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306E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9375A"/>
                </a:solidFill>
                <a:latin typeface="Aptos Display"/>
              </a:rPr>
              <a:t>PYTHON PROGRAMMING</a:t>
            </a:r>
          </a:p>
          <a:p>
            <a:r>
              <a:rPr sz="2500">
                <a:solidFill>
                  <a:srgbClr val="306EA5"/>
                </a:solidFill>
                <a:latin typeface="Aptos"/>
              </a:rPr>
              <a:t>Lecture 2 • Output, Formatting &amp; Pattern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232B32"/>
                </a:solidFill>
                <a:latin typeface="Aptos"/>
              </a:rPr>
              <a:t>Classroom Challenge Set</a:t>
            </a:r>
          </a:p>
          <a:p>
            <a:r>
              <a:rPr sz="1700" dirty="0">
                <a:solidFill>
                  <a:srgbClr val="646E78"/>
                </a:solidFill>
                <a:latin typeface="Aptos"/>
              </a:rPr>
              <a:t>Designed for beginners after the first Python 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  <a:latin typeface="Aptos"/>
              </a:rPr>
              <a:t>Python Programming • Lecture 2 • Classroom Exercise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What are we practicing?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6E78"/>
                </a:solidFill>
                <a:latin typeface="Aptos"/>
              </a:rPr>
              <a:t>The goal is not advanced programming yet — it is precise thinking about program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9375A"/>
                </a:solidFill>
                <a:latin typeface="Aptos"/>
              </a:rPr>
              <a:t>Learning objectives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Use print() to reproduce an exact specification.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Control spaces, alignment, and line breaks.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Understand how strings are assembled.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Use \n, sep, and end deliberately.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Recognize symmetry and repeated structure.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Write readable code even when the task is intentionally constrained.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  <a:latin typeface="Aptos"/>
              </a:rPr>
              <a:t>Python Programming • Lecture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Rules for this exercise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6E78"/>
                </a:solidFill>
                <a:latin typeface="Aptos"/>
              </a:rPr>
              <a:t>Work within the concepts introduced so far.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9375A"/>
                </a:solidFill>
                <a:latin typeface="Aptos"/>
              </a:rPr>
              <a:t>Student instructions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Use only print() statements for Challenges 1–10.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Do not use loops.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Do not use functions or conditional statements.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Match the required output exactly.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Pay close attention to spaces and alignment.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Bonus: use one single print() statement.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  <a:latin typeface="Aptos"/>
              </a:rPr>
              <a:t>Python Programming • Lecture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2072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Challenge 1 — Hollow Pyramid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146304"/>
            <a:ext cx="1234440" cy="438912"/>
          </a:xfrm>
          <a:prstGeom prst="roundRect">
            <a:avLst/>
          </a:prstGeom>
          <a:solidFill>
            <a:srgbClr val="FFD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375A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6E78"/>
                </a:solidFill>
                <a:latin typeface="Aptos"/>
              </a:rPr>
              <a:t>Reproduce the pattern exactly. Pay special attention to the interior spaces.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486400" cy="4617720"/>
          </a:xfrm>
          <a:prstGeom prst="roundRect">
            <a:avLst/>
          </a:prstGeom>
          <a:solidFill>
            <a:srgbClr val="23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28600" rIns="228600" rtlCol="0" anchor="ctr"/>
          <a:lstStyle/>
          <a:p>
            <a:pPr algn="l"/>
            <a:r>
              <a:rPr sz="2000">
                <a:solidFill>
                  <a:srgbClr val="FFFFFF"/>
                </a:solidFill>
                <a:latin typeface="Consolas"/>
              </a:rPr>
              <a:t>*
* *
*   *
*     *
*********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554480"/>
            <a:ext cx="4754880" cy="105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19375A"/>
                </a:solidFill>
                <a:latin typeface="Aptos"/>
              </a:rPr>
              <a:t>Think about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/>
              <a:t>Think about the boundary of each row.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rPr dirty="0" smtClean="0"/>
              <a:t>Exact </a:t>
            </a:r>
            <a:r>
              <a:rPr dirty="0"/>
              <a:t>spacing matters.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  <a:latin typeface="Aptos"/>
              </a:rPr>
              <a:t>Python Programming • Lecture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Challenge 2 — Diamond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146304"/>
            <a:ext cx="1234440" cy="438912"/>
          </a:xfrm>
          <a:prstGeom prst="roundRect">
            <a:avLst/>
          </a:prstGeom>
          <a:solidFill>
            <a:srgbClr val="FFD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375A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6E78"/>
                </a:solidFill>
                <a:latin typeface="Aptos"/>
              </a:rPr>
              <a:t>Produce a symmetric diamond using print() statements only.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486400" cy="4617720"/>
          </a:xfrm>
          <a:prstGeom prst="roundRect">
            <a:avLst/>
          </a:prstGeom>
          <a:solidFill>
            <a:srgbClr val="23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28600" rIns="228600" rtlCol="0" anchor="ctr"/>
          <a:lstStyle/>
          <a:p>
            <a:pPr algn="l"/>
            <a:r>
              <a:rPr sz="2000">
                <a:solidFill>
                  <a:srgbClr val="FFFFFF"/>
                </a:solidFill>
                <a:latin typeface="Consolas"/>
              </a:rPr>
              <a:t>*
***
*****
*******
*********
*******
*****
***
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9375A"/>
                </a:solidFill>
                <a:latin typeface="Aptos"/>
              </a:rPr>
              <a:t>Think about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Observe the increasing and decreasing width.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Think in terms of an upper and lower half.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Exact output is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  <a:latin typeface="Aptos"/>
              </a:rPr>
              <a:t>Python Programming • Lecture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Challenge 3 — Butterfly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146304"/>
            <a:ext cx="1234440" cy="438912"/>
          </a:xfrm>
          <a:prstGeom prst="roundRect">
            <a:avLst/>
          </a:prstGeom>
          <a:solidFill>
            <a:srgbClr val="FFD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375A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6E78"/>
                </a:solidFill>
                <a:latin typeface="Aptos"/>
              </a:rPr>
              <a:t>Reproduce the butterfly pattern with the correct middle gap.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486400" cy="4617720"/>
          </a:xfrm>
          <a:prstGeom prst="roundRect">
            <a:avLst/>
          </a:prstGeom>
          <a:solidFill>
            <a:srgbClr val="23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28600" rIns="228600" rtlCol="0" anchor="ctr"/>
          <a:lstStyle/>
          <a:p>
            <a:pPr algn="l"/>
            <a:r>
              <a:rPr sz="2000">
                <a:solidFill>
                  <a:srgbClr val="FFFFFF"/>
                </a:solidFill>
                <a:latin typeface="Consolas"/>
              </a:rPr>
              <a:t>* *
** **
*** ***
**** ****
*********
**** ****
*** ***
** **
* 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9375A"/>
                </a:solidFill>
                <a:latin typeface="Aptos"/>
              </a:rPr>
              <a:t>Think about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Spaces are part of the output.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The middle row is special.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Check symmetry carefully.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  <a:latin typeface="Aptos"/>
              </a:rPr>
              <a:t>Python Programming • Lecture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Challenge 4 — Hourglass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146304"/>
            <a:ext cx="1234440" cy="438912"/>
          </a:xfrm>
          <a:prstGeom prst="roundRect">
            <a:avLst/>
          </a:prstGeom>
          <a:solidFill>
            <a:srgbClr val="FFD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375A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6E78"/>
                </a:solidFill>
                <a:latin typeface="Aptos"/>
              </a:rPr>
              <a:t>Produce the inverted-and-returning pattern.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486400" cy="4617720"/>
          </a:xfrm>
          <a:prstGeom prst="roundRect">
            <a:avLst/>
          </a:prstGeom>
          <a:solidFill>
            <a:srgbClr val="23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28600" rIns="228600" rtlCol="0" anchor="ctr"/>
          <a:lstStyle/>
          <a:p>
            <a:pPr algn="l"/>
            <a:r>
              <a:rPr sz="2000">
                <a:solidFill>
                  <a:srgbClr val="FFFFFF"/>
                </a:solidFill>
                <a:latin typeface="Consolas"/>
              </a:rPr>
              <a:t>*********
*******
*****
***
*
***
*****
*******
*********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9375A"/>
                </a:solidFill>
                <a:latin typeface="Aptos"/>
              </a:rPr>
              <a:t>Think about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Track the number of stars per row.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The pattern contracts, then expands.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No loops.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  <a:latin typeface="Aptos"/>
              </a:rPr>
              <a:t>Python Programming • Lecture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Challenge 5 — Pascal-style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146304"/>
            <a:ext cx="1234440" cy="438912"/>
          </a:xfrm>
          <a:prstGeom prst="roundRect">
            <a:avLst/>
          </a:prstGeom>
          <a:solidFill>
            <a:srgbClr val="FFD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375A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6E78"/>
                </a:solidFill>
                <a:latin typeface="Aptos"/>
              </a:rPr>
              <a:t>Reproduce the given rows exactly.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486400" cy="4617720"/>
          </a:xfrm>
          <a:prstGeom prst="roundRect">
            <a:avLst/>
          </a:prstGeom>
          <a:solidFill>
            <a:srgbClr val="23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28600" rIns="228600" rtlCol="0" anchor="ctr"/>
          <a:lstStyle/>
          <a:p>
            <a:pPr algn="l"/>
            <a:r>
              <a:rPr sz="2000">
                <a:solidFill>
                  <a:srgbClr val="FFFFFF"/>
                </a:solidFill>
                <a:latin typeface="Consolas"/>
              </a:rPr>
              <a:t>1
1 1
1 2 1
1 3 3 1
1 4 6 4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9375A"/>
                </a:solidFill>
                <a:latin typeface="Aptos"/>
              </a:rPr>
              <a:t>Think about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This is a fixed-output exercise at this stage.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Later, you will learn to generate such structures algorithmically.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  <a:latin typeface="Aptos"/>
              </a:rPr>
              <a:t>Python Programming • Lecture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Challenge 6 — Numeric Diamond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146304"/>
            <a:ext cx="1234440" cy="438912"/>
          </a:xfrm>
          <a:prstGeom prst="roundRect">
            <a:avLst/>
          </a:prstGeom>
          <a:solidFill>
            <a:srgbClr val="FFD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375A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6E78"/>
                </a:solidFill>
                <a:latin typeface="Aptos"/>
              </a:rPr>
              <a:t>Produce the symmetric numeric pattern.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486400" cy="4617720"/>
          </a:xfrm>
          <a:prstGeom prst="roundRect">
            <a:avLst/>
          </a:prstGeom>
          <a:solidFill>
            <a:srgbClr val="23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28600" rIns="228600" rtlCol="0" anchor="ctr"/>
          <a:lstStyle/>
          <a:p>
            <a:pPr algn="l"/>
            <a:r>
              <a:rPr sz="2000">
                <a:solidFill>
                  <a:srgbClr val="FFFFFF"/>
                </a:solidFill>
                <a:latin typeface="Consolas"/>
              </a:rPr>
              <a:t>1
121
12321
1234321
123454321
1234321
12321
121
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9375A"/>
                </a:solidFill>
                <a:latin typeface="Aptos"/>
              </a:rPr>
              <a:t>Think about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Notice the forward and reverse sequence.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Numbers are characters here; focus on output construction.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Check symmetry.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  <a:latin typeface="Aptos"/>
              </a:rPr>
              <a:t>Python Programming • Lecture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Challenge 7 — Alphabet Pyramid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146304"/>
            <a:ext cx="1234440" cy="438912"/>
          </a:xfrm>
          <a:prstGeom prst="roundRect">
            <a:avLst/>
          </a:prstGeom>
          <a:solidFill>
            <a:srgbClr val="FFD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375A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6E78"/>
                </a:solidFill>
                <a:latin typeface="Aptos"/>
              </a:rPr>
              <a:t>Produce the alphabetic pyramid.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486400" cy="4617720"/>
          </a:xfrm>
          <a:prstGeom prst="roundRect">
            <a:avLst/>
          </a:prstGeom>
          <a:solidFill>
            <a:srgbClr val="23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28600" rIns="228600" rtlCol="0" anchor="ctr"/>
          <a:lstStyle/>
          <a:p>
            <a:pPr algn="l"/>
            <a:r>
              <a:rPr sz="2000">
                <a:solidFill>
                  <a:srgbClr val="FFFFFF"/>
                </a:solidFill>
                <a:latin typeface="Consolas"/>
              </a:rPr>
              <a:t>A
ABA
ABCBA
ABCDCBA
ABCDEDCBA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9375A"/>
                </a:solidFill>
                <a:latin typeface="Aptos"/>
              </a:rPr>
              <a:t>Think about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Observe the forward-then-backward alphabet sequence.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Maintain exact character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  <a:latin typeface="Aptos"/>
              </a:rPr>
              <a:t>Python Programming • Lecture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Challenge 8 — Symmetric Triangle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146304"/>
            <a:ext cx="1234440" cy="438912"/>
          </a:xfrm>
          <a:prstGeom prst="roundRect">
            <a:avLst/>
          </a:prstGeom>
          <a:solidFill>
            <a:srgbClr val="FFD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375A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6E78"/>
                </a:solidFill>
                <a:latin typeface="Aptos"/>
              </a:rPr>
              <a:t>Produce the symmetric alphabet structure exactly.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486400" cy="4617720"/>
          </a:xfrm>
          <a:prstGeom prst="roundRect">
            <a:avLst/>
          </a:prstGeom>
          <a:solidFill>
            <a:srgbClr val="23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28600" rIns="228600" rtlCol="0" anchor="ctr"/>
          <a:lstStyle/>
          <a:p>
            <a:pPr algn="l"/>
            <a:r>
              <a:rPr sz="2000">
                <a:solidFill>
                  <a:srgbClr val="FFFFFF"/>
                </a:solidFill>
                <a:latin typeface="Consolas"/>
              </a:rPr>
              <a:t>A
ABA
ABCBA
ABCDCBA
ABCDEDCBA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9375A"/>
                </a:solidFill>
                <a:latin typeface="Aptos"/>
              </a:rPr>
              <a:t>Think about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Compare this with Challenge 7.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Identify what makes a pattern symmetric.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Try to explain the structure in words.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  <a:latin typeface="Aptos"/>
              </a:rPr>
              <a:t>Python Programming • Lecture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Challenge 9 — Framed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146304"/>
            <a:ext cx="1234440" cy="438912"/>
          </a:xfrm>
          <a:prstGeom prst="roundRect">
            <a:avLst/>
          </a:prstGeom>
          <a:solidFill>
            <a:srgbClr val="FFD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375A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6E78"/>
                </a:solidFill>
                <a:latin typeface="Aptos"/>
              </a:rPr>
              <a:t>Maintain alignment inside the frame.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486400" cy="4617720"/>
          </a:xfrm>
          <a:prstGeom prst="roundRect">
            <a:avLst/>
          </a:prstGeom>
          <a:solidFill>
            <a:srgbClr val="23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28600" rIns="228600" rtlCol="0" anchor="ctr"/>
          <a:lstStyle/>
          <a:p>
            <a:pPr algn="l"/>
            <a:r>
              <a:rPr sz="1700">
                <a:solidFill>
                  <a:srgbClr val="FFFFFF"/>
                </a:solidFill>
                <a:latin typeface="Consolas"/>
              </a:rPr>
              <a:t>+----------------------+
| PYTHON PROGRAMMING |
| LECTURE - 2 |
+----------------------+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9375A"/>
                </a:solidFill>
                <a:latin typeface="Aptos"/>
              </a:rPr>
              <a:t>Think about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Spaces inside the frame matter.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Do not change the frame width.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Check the alignment visually.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  <a:latin typeface="Aptos"/>
              </a:rPr>
              <a:t>Python Programming • Lecture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Challenge 10 — The Monster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146304"/>
            <a:ext cx="1234440" cy="438912"/>
          </a:xfrm>
          <a:prstGeom prst="roundRect">
            <a:avLst/>
          </a:prstGeom>
          <a:solidFill>
            <a:srgbClr val="FFD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375A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6E78"/>
                </a:solidFill>
                <a:latin typeface="Aptos"/>
              </a:rPr>
              <a:t>Produce the complete expanding and contracting star pattern.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486400" cy="4617720"/>
          </a:xfrm>
          <a:prstGeom prst="roundRect">
            <a:avLst/>
          </a:prstGeom>
          <a:solidFill>
            <a:srgbClr val="23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28600" rIns="228600" rtlCol="0" anchor="ctr"/>
          <a:lstStyle/>
          <a:p>
            <a:pPr algn="l"/>
            <a:r>
              <a:rPr sz="1700">
                <a:solidFill>
                  <a:srgbClr val="FFFFFF"/>
                </a:solidFill>
                <a:latin typeface="Consolas"/>
              </a:rPr>
              <a:t>*
***
*****
*******
*********
***********
*************
***************
*****************
*******************
*********************
*******************
*****************
***************
*************
***********
*********
*******
*****
***
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9375A"/>
                </a:solidFill>
                <a:latin typeface="Aptos"/>
              </a:rPr>
              <a:t>Think about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This is deliberately repetitive.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Look for symmetry in the row lengths.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Keep the output exact.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  <a:latin typeface="Aptos"/>
              </a:rPr>
              <a:t>Python Programming • Lecture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Bonus Challenge — One print()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146304"/>
            <a:ext cx="1234440" cy="438912"/>
          </a:xfrm>
          <a:prstGeom prst="roundRect">
            <a:avLst/>
          </a:prstGeom>
          <a:solidFill>
            <a:srgbClr val="FFD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375A"/>
                </a:solidFill>
                <a:latin typeface="Aptos"/>
              </a:rPr>
              <a:t>BONUS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6E78"/>
                </a:solidFill>
                <a:latin typeface="Aptos"/>
              </a:rPr>
              <a:t>Use one single print() statement to generate all ten 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5120640" cy="4663440"/>
          </a:xfrm>
          <a:prstGeom prst="roundRect">
            <a:avLst/>
          </a:prstGeom>
          <a:solidFill>
            <a:srgbClr val="23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28600" rIns="228600" rtlCol="0" anchor="ctr"/>
          <a:lstStyle/>
          <a:p>
            <a:pPr algn="l"/>
            <a:r>
              <a:rPr sz="2100">
                <a:solidFill>
                  <a:srgbClr val="FFFFFF"/>
                </a:solidFill>
                <a:latin typeface="Consolas"/>
              </a:rPr>
              <a:t>A
AB
ABC
ABCD
ABCDE
ABCDEF
ABCDEFG
ABCDEFGH
ABCDEFGHI
ABCDEFGHIJ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9375A"/>
                </a:solidFill>
                <a:latin typeface="Aptos"/>
              </a:rPr>
              <a:t>Hint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Only ONE print() statement.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You will need \n to create line breaks.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Think about how the complete output can be represented as one string.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Do not use loops.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  <a:latin typeface="Aptos"/>
              </a:rPr>
              <a:t>Python Programming • Lecture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Challenge 11 — X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146304"/>
            <a:ext cx="1234440" cy="438912"/>
          </a:xfrm>
          <a:prstGeom prst="roundRect">
            <a:avLst/>
          </a:prstGeom>
          <a:solidFill>
            <a:srgbClr val="FFD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375A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6E78"/>
                </a:solidFill>
                <a:latin typeface="Aptos"/>
              </a:rPr>
              <a:t>Produce an X using stars. Focus on positions, spacing, and symmetry.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486400" cy="4617720"/>
          </a:xfrm>
          <a:prstGeom prst="roundRect">
            <a:avLst/>
          </a:prstGeom>
          <a:solidFill>
            <a:srgbClr val="23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228600" rtlCol="0" anchor="ctr"/>
          <a:lstStyle/>
          <a:p>
            <a:pPr algn="ctr"/>
            <a:r>
              <a:rPr sz="2000">
                <a:solidFill>
                  <a:srgbClr val="FFFFFF"/>
                </a:solidFill>
                <a:latin typeface="Consolas"/>
              </a:rPr>
              <a:t>*       *
 *     *
  *   *
   * *
    *
   * *
  *   *
 *     *
*       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9375A"/>
                </a:solidFill>
                <a:latin typeface="Aptos"/>
              </a:rPr>
              <a:t>Think about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The first and last rows contain two stars.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The two diagonals meet at the center.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Spaces between the stars are part of the required output.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No loops — use only print() statements.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Challenge: explain the pattern row by row before coding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  <a:latin typeface="Aptos"/>
              </a:rPr>
              <a:t>Python Programming • Lecture 2 • Classroom Exercise Set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3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Why are these exercises useful?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6E78"/>
                </a:solidFill>
                <a:latin typeface="Aptos"/>
              </a:rPr>
              <a:t>The patterns are simple; the thinking behind exact output is the real exercise.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9375A"/>
                </a:solidFill>
                <a:latin typeface="Aptos"/>
              </a:rPr>
              <a:t>From fixed output to algorithms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Precision: one missing space changes the output.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Decomposition: break a large pattern into rows.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Symmetry: identify repeated structure.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String thinking: treat output as carefully constructed text.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Readability: make even constrained code understandable.</a:t>
            </a:r>
          </a:p>
          <a:p>
            <a:pPr>
              <a:spcAft>
                <a:spcPts val="1000"/>
              </a:spcAft>
              <a:defRPr sz="1700">
                <a:solidFill>
                  <a:srgbClr val="232B32"/>
                </a:solidFill>
                <a:latin typeface="Aptos"/>
              </a:defRPr>
            </a:pPr>
            <a:r>
              <a:t>Next step: the same patterns can later be generalized using loops and functions.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6E78"/>
                </a:solidFill>
                <a:latin typeface="Aptos"/>
              </a:rPr>
              <a:t>Python Programming • Lecture 2 • Next: Generalization with loops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805</Words>
  <Application>Microsoft Office PowerPoint</Application>
  <PresentationFormat>Widescreen</PresentationFormat>
  <Paragraphs>143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iirs</cp:lastModifiedBy>
  <cp:revision>2</cp:revision>
  <dcterms:created xsi:type="dcterms:W3CDTF">2013-01-27T09:14:16Z</dcterms:created>
  <dcterms:modified xsi:type="dcterms:W3CDTF">2026-08-17T07:07:44Z</dcterms:modified>
  <cp:category/>
</cp:coreProperties>
</file>